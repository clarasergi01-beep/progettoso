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a Sergi" userId="722a4246b11cbf4f" providerId="LiveId" clId="{95435B29-1154-43E6-8D88-216C50295B70}"/>
    <pc:docChg chg="delSld modSld">
      <pc:chgData name="Clara Sergi" userId="722a4246b11cbf4f" providerId="LiveId" clId="{95435B29-1154-43E6-8D88-216C50295B70}" dt="2026-07-13T06:02:56.178" v="75" actId="20577"/>
      <pc:docMkLst>
        <pc:docMk/>
      </pc:docMkLst>
      <pc:sldChg chg="modSp mod">
        <pc:chgData name="Clara Sergi" userId="722a4246b11cbf4f" providerId="LiveId" clId="{95435B29-1154-43E6-8D88-216C50295B70}" dt="2026-07-13T06:02:04.471" v="53" actId="1076"/>
        <pc:sldMkLst>
          <pc:docMk/>
          <pc:sldMk cId="0" sldId="256"/>
        </pc:sldMkLst>
        <pc:spChg chg="mod">
          <ac:chgData name="Clara Sergi" userId="722a4246b11cbf4f" providerId="LiveId" clId="{95435B29-1154-43E6-8D88-216C50295B70}" dt="2026-07-13T06:02:04.471" v="53" actId="1076"/>
          <ac:spMkLst>
            <pc:docMk/>
            <pc:sldMk cId="0" sldId="256"/>
            <ac:spMk id="18" creationId="{00000000-0000-0000-0000-000000000000}"/>
          </ac:spMkLst>
        </pc:spChg>
      </pc:sldChg>
      <pc:sldChg chg="modSp mod">
        <pc:chgData name="Clara Sergi" userId="722a4246b11cbf4f" providerId="LiveId" clId="{95435B29-1154-43E6-8D88-216C50295B70}" dt="2026-07-13T06:01:44.007" v="33" actId="20577"/>
        <pc:sldMkLst>
          <pc:docMk/>
          <pc:sldMk cId="0" sldId="257"/>
        </pc:sldMkLst>
        <pc:spChg chg="mod">
          <ac:chgData name="Clara Sergi" userId="722a4246b11cbf4f" providerId="LiveId" clId="{95435B29-1154-43E6-8D88-216C50295B70}" dt="2026-07-13T06:01:44.007" v="33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Clara Sergi" userId="722a4246b11cbf4f" providerId="LiveId" clId="{95435B29-1154-43E6-8D88-216C50295B70}" dt="2026-07-13T06:02:37.367" v="58" actId="20577"/>
        <pc:sldMkLst>
          <pc:docMk/>
          <pc:sldMk cId="0" sldId="265"/>
        </pc:sldMkLst>
        <pc:spChg chg="mod">
          <ac:chgData name="Clara Sergi" userId="722a4246b11cbf4f" providerId="LiveId" clId="{95435B29-1154-43E6-8D88-216C50295B70}" dt="2026-07-13T06:02:37.367" v="58" actId="20577"/>
          <ac:spMkLst>
            <pc:docMk/>
            <pc:sldMk cId="0" sldId="265"/>
            <ac:spMk id="24" creationId="{00000000-0000-0000-0000-000000000000}"/>
          </ac:spMkLst>
        </pc:spChg>
      </pc:sldChg>
      <pc:sldChg chg="modSp mod">
        <pc:chgData name="Clara Sergi" userId="722a4246b11cbf4f" providerId="LiveId" clId="{95435B29-1154-43E6-8D88-216C50295B70}" dt="2026-07-13T06:02:56.178" v="75" actId="20577"/>
        <pc:sldMkLst>
          <pc:docMk/>
          <pc:sldMk cId="0" sldId="267"/>
        </pc:sldMkLst>
        <pc:spChg chg="mod">
          <ac:chgData name="Clara Sergi" userId="722a4246b11cbf4f" providerId="LiveId" clId="{95435B29-1154-43E6-8D88-216C50295B70}" dt="2026-07-13T06:02:56.178" v="75" actId="2057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Clara Sergi" userId="722a4246b11cbf4f" providerId="LiveId" clId="{95435B29-1154-43E6-8D88-216C50295B70}" dt="2026-07-13T06:02:51.674" v="60" actId="1076"/>
          <ac:spMkLst>
            <pc:docMk/>
            <pc:sldMk cId="0" sldId="267"/>
            <ac:spMk id="15" creationId="{00000000-0000-0000-0000-000000000000}"/>
          </ac:spMkLst>
        </pc:spChg>
      </pc:sldChg>
      <pc:sldChg chg="del">
        <pc:chgData name="Clara Sergi" userId="722a4246b11cbf4f" providerId="LiveId" clId="{95435B29-1154-43E6-8D88-216C50295B70}" dt="2026-07-13T06:01:17.544" v="0" actId="2696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1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4"/>
          <p:cNvSpPr/>
          <p:nvPr/>
        </p:nvSpPr>
        <p:spPr>
          <a:xfrm>
            <a:off x="77724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A9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DI SISTEMI OPERATIVI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3317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di Elaborazione Ordini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Produttore–Consumatore in Java: mutua esclusione, sincronizzazione e concorrenza </a:t>
            </a:r>
            <a:r>
              <a:rPr lang="en-US" sz="16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thread</a:t>
            </a:r>
            <a:b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 Clara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</a:t>
            </a: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 </a:t>
            </a:r>
            <a:r>
              <a:rPr lang="en-US" sz="3000" b="1" dirty="0" err="1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thread produttori generano ordini più velocemente di quanto i thread consumatori riescano a elaborarli.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Entrambi condividono un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di capacità limitata</a:t>
            </a:r>
            <a:r>
              <a:rPr lang="en-US" sz="14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il progetto implementa e verifica i meccanismi che permettono a questi thread di collaborare senza corrompere i dati e senza bloccarsi per sempre.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87681" y="367360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 w="12700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85800" y="34930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67741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di elaborazione video/</a:t>
            </a:r>
            <a:r>
              <a:rPr lang="en-US" sz="12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immagini</a:t>
            </a: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50" dirty="0" err="1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Sistemi di logging concorrente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server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14447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 esclusione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scrittura/lettura concorrente sul buffer condiviso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514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3093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24963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Sincronizzazione con attesa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49440" y="2788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produttore attende se pieno, il consumatore attende se vuoto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566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3093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3547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race condition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4944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contatori condivisi restano coerenti sotto carico concorrente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modello </a:t>
            </a:r>
            <a:r>
              <a:rPr lang="en-US" sz="3000" b="1" dirty="0" err="1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dati</a:t>
            </a: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b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600" b="1" i="1" dirty="0" err="1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</a:t>
            </a:r>
            <a:r>
              <a:rPr lang="en-US" sz="1600" b="1" i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viene scambiato</a:t>
            </a:r>
            <a:endParaRPr lang="en-US" sz="3000" i="1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nel progetto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il "prodotto" del pattern Producer-Consumer: un oggetto immutabile e leggero, senza logica di concorrenza propria. La sua semplicità è voluta — tutta la complessità di sincronizzazione vive nel buffer, non nel dato trasportato.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è immutabile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10128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campi sono 'final' e assegnati una sola volta nel costruttore. Un oggetto immutabile può essere letto in sicurezza da più thread contemporaneamente, senza bisogno di sincronizzazione aggiuntiva: elimina una intera classe di bug di concorrenza.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532120" cy="3291840"/>
          </a:xfrm>
          <a:prstGeom prst="roundRect">
            <a:avLst>
              <a:gd name="adj" fmla="val 2222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373368" y="1563624"/>
            <a:ext cx="5129784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Order {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int id;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String description;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long timestampCreation;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Order(int id, String description) {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this.id = id;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this.description = description;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this.timestampCreation =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System.currentTimeMillis();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8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getter, nessun setter -&gt; immutabile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074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BOUNDEDBUFFERMANUAL.JAVA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cuore del </a:t>
            </a:r>
            <a:r>
              <a:rPr lang="en-US" sz="3000" b="1" dirty="0" err="1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progetto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806440" cy="3977640"/>
          </a:xfrm>
          <a:prstGeom prst="roundRect">
            <a:avLst>
              <a:gd name="adj" fmla="val 1839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1563624"/>
            <a:ext cx="5404104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synchronized void put(Order o)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throws InterruptedException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(buffer.size() == capacity)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wait();  // rilascia il lock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buffer.add(o);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notifyAll();  // sveglia gli attesi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synchronized Order take()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throws InterruptedException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(buffer.isEmpty())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o = buffer.poll();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notifyAll();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20840" y="15544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while, non if
</a:t>
            </a:r>
            <a:endParaRPr lang="en-US" sz="13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thread risvegliato deve ricontrollare la condizione: uno "spurious wakeup" o un altro thread più veloce possono averla resa di nuovo falsa.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29260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notifyAll, non notify
</a:t>
            </a:r>
            <a:endParaRPr lang="en-US" sz="13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più produttori E consumatori in attesa sullo stesso monitor, notify() potrebbe svegliare il thread "sbagliato" e causare uno stallo silenzioso.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42976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sull'intero metodo
</a:t>
            </a:r>
            <a:endParaRPr lang="en-US" sz="1300" dirty="0">
              <a:solidFill>
                <a:srgbClr val="002060"/>
              </a:solidFill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put() e take() condividono lo stesso lock implicito: sono reciprocamente in mutua esclusione sull'unica struttura dati condivisa.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BOUNDEDBUFFERBLOCKINGQUEUE.JAVA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Stesso</a:t>
            </a: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ma API di alto livello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2641496"/>
          </a:xfrm>
          <a:prstGeom prst="roundRect">
            <a:avLst>
              <a:gd name="adj" fmla="val 3200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1563624"/>
            <a:ext cx="49926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final BlockingQueue&lt;Order&gt; buffer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new ArrayBlockingQueue&lt;&gt;(capacity);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put(Order o)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throws InterruptedException {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buffer.put(o); // blocca se pieno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Order take()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throws InterruptedException {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buffer.take(); // blocca se vuoto</a:t>
            </a:r>
            <a:endParaRPr lang="en-US" sz="12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ArrayBlockingQueue implementa internamente lo stesso meccanismo di lock e condition variable, solo incapsulato, testato e ottimizzato dal JDK.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532120" cy="566928"/>
          </a:xfrm>
          <a:prstGeom prst="rect">
            <a:avLst/>
          </a:prstGeom>
          <a:solidFill>
            <a:srgbClr val="1E2761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0" y="14173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21240" y="14173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BlockingQueue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984248"/>
            <a:ext cx="5532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309360" y="198424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0" y="198424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basso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21240" y="198424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551176"/>
            <a:ext cx="5532120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309360" y="255117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wait/notify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255117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espliciti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21240" y="255117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nascosti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118104"/>
            <a:ext cx="5532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309360" y="3118104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di errore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01000" y="311810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alto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21240" y="311810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basso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685032"/>
            <a:ext cx="5532120" cy="566928"/>
          </a:xfrm>
          <a:prstGeom prst="rect">
            <a:avLst/>
          </a:prstGeom>
          <a:solidFill>
            <a:srgbClr val="F4F7FC"/>
          </a:solidFill>
          <a:ln w="9525">
            <a:solidFill>
              <a:srgbClr val="E1E6F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309360" y="368503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fine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01000" y="368503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21240" y="368503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754880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tenerle entrambe: </a:t>
            </a: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versione manuale dimostra la comprensione dei meccanismi di base; BlockingQueue mostra la consapevolezza degli strumenti usati realmente in produzione.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PRODUCER.JAVA / CONSUMER.JAVA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thread applicativi che usano il buffer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 implements Runnable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58368" y="2157984"/>
            <a:ext cx="503834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run()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i=1; i&lt;=itemsToProduce; i++)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o = new Order(...);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buffer.put(o);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SharedStats.orderProduced();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Thread.sleep(random 0-500ms);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5440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Producer lavora a velocità </a:t>
            </a:r>
            <a:r>
              <a:rPr lang="en-US" sz="1200" i="1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</a:t>
            </a: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simulare carico realistico e forzare, durante i test, sia lo stato di buffer pieno sia quello di buffer vuoto.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41732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>
                    <a:lumMod val="5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 implements Runnable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64808" y="2157984"/>
            <a:ext cx="503834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run()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i=0; i&lt;itemsToConsume; i++)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o = buffer.take();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SharedStats.orderConsumed();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Thread.sleep(random 0-800ms);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4480560"/>
            <a:ext cx="5440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consumatori sono deliberatamente più lenti </a:t>
            </a:r>
            <a:r>
              <a:rPr lang="en-US" sz="1200" i="1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produttori</a:t>
            </a: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questo squilibrio è ciò che, nel log reale, fa comparire gli stati "buffer PIENO, produttore in attesa".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SHAREDSTATS.JAVA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Dimostrazione</a:t>
            </a: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della race condition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SENZA sincronizzazione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86968" y="2112264"/>
            <a:ext cx="453542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int produced = 0;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 orderProduced()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produced++;  // NON atomico: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//  read-modify-write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3796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 AtomicInteger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37960" y="196596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739128" y="2112264"/>
            <a:ext cx="453542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AtomicInteger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produced = new AtomicInteger(0);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 orderProduced()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produced.incrementAndGet(); // CAS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02336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produced++ è pericoloso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4315968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L'operazione produced++ non è atomica: internamente è "leggi il valore, incrementa, riscrivi" (read-modify-write). Se due thread la eseguono nello stesso istante, entrambi possono leggere lo stesso valore di partenza e uno dei due incrementi va perso. Con carico basso il bug è quasi invisibile; con molti thread e molte iterazioni, il totale finale non coincide più con quello atteso.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Orchestrazione: creazione, avvio, attesa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623560" cy="3840480"/>
          </a:xfrm>
          <a:prstGeom prst="roundRect">
            <a:avLst>
              <a:gd name="adj" fmla="val 1905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1609344"/>
            <a:ext cx="5221224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BoundedBufferManual buffer =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BoundedBufferManual(5);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List&lt;Thread&gt; threads = new ArrayList&lt;&gt;();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i=1; i&lt;=3; i++)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 t = new Thread(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Producer(buffer, i, 10),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"Producer-" + i);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threads.add(t); t.start();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i=1; i&lt;=2; i++)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 t = new Thread(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Consumer(buffer, 15),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"Consumer-" + i);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threads.add(t); t.start();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(Thread t : threads) t.join();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SharedStats.printFinalReport();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0" y="16002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produttori, 2 consumatori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 volutamente diversi: dimostra che il buffer regola correttamente carichi asimmetrici.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join()
</a:t>
            </a: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Main Thread si sospende </a:t>
            </a:r>
            <a:r>
              <a:rPr lang="en-US" sz="1150" dirty="0" err="1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finché</a:t>
            </a:r>
            <a:r>
              <a:rPr lang="en-US" sz="11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ogni thread figlio non ha terminato: garantisce che il report finale sia stampato solo a lavoro completato.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39776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architetturale
</a:t>
            </a:r>
            <a:endParaRPr lang="en-US" sz="1300" dirty="0">
              <a:solidFill>
                <a:srgbClr val="002060"/>
              </a:solidFill>
            </a:endParaRPr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non contiene logica di concorrenza: si limita a comporre gli oggetti. Ogni classe resta testabile e responsabile di una sola cosa (Single Responsibility).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DEADLOCKDEMO.JAVA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Dimostrazione controllata di un deadlock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160020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37560" y="16002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337560" y="16002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301752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2606040"/>
            <a:ext cx="0" cy="393192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011680" y="3227832"/>
            <a:ext cx="1280160" cy="0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840480" y="2606040"/>
            <a:ext cx="0" cy="39319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3794760" y="3639312"/>
            <a:ext cx="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dash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65760" y="37947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attesa circolare = deadlock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66928" y="4352544"/>
            <a:ext cx="462686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8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Thread-1: synchronized(A) { ... synchronized(B)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8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Thread-2: synchronized(B) { ... synchronized(A)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8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ordine di acquisizione OPPOSTO = deadlock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66460" y="1417133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4 </a:t>
            </a:r>
            <a:r>
              <a:rPr lang="en-US" sz="130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condizioni</a:t>
            </a: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66460" y="1627445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 </a:t>
            </a:r>
            <a:r>
              <a:rPr lang="en-US" sz="1200" dirty="0" err="1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esclusione</a:t>
            </a: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Hold-and-wait </a:t>
            </a:r>
            <a:b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No-preemption </a:t>
            </a:r>
            <a:b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Attesa</a:t>
            </a: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circolare</a:t>
            </a:r>
            <a:b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e quattro devono valere perché si verifichi un deadlock.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310896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soluzione: lock ordering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3401568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tutti i thread acquisiscono i lock sempre nello stesso ordine (prima A, poi B), si rompe la condizione di attesa circolare: il deadlock diventa strutturalmente impossibile.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4663440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è separata dal resto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5057752"/>
            <a:ext cx="5440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una classe indipendente, non collegata al buffer principale: un esperimento isolato e ripetibile pensato solo per la discussione orale, senza rischiare di bloccare la simulazione reale.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ESECUZIONE REALE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Lettura annotata del log prodotto da Java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766560" cy="4343400"/>
          </a:xfrm>
          <a:prstGeom prst="roundRect">
            <a:avLst>
              <a:gd name="adj" fmla="val 1684"/>
            </a:avLst>
          </a:prstGeom>
          <a:solidFill>
            <a:srgbClr val="10143A"/>
          </a:solidFill>
          <a:ln w="12700">
            <a:solidFill>
              <a:srgbClr val="2A31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58368" y="1563624"/>
            <a:ext cx="6364224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[Producer-2] Prodotto: Order#2001 (buffer: 1/5)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[Consumer-2] Consumato: Order#2001 (buffer: 0/5)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[Consumer-1] Buffer VUOTO, in attesa...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[Producer-1] Prodotto: Order#1001 (buffer: 1/5)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[Producer-3] Prodotto: Order#3001 (buffer: 2/5)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[Producer-1] Prodotto: Order#1005 (buffer: 5/5)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[Producer-2] Buffer PIENO, in attesa...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[Producer-1] Buffer PIENO, in attesa...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[Producer-3] Buffer PIENO, in attesa...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[Consumer-1] Consumato: Order#2003 (buffer: 4/5)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[Consumer-1] Consumato: Order#2010 (buffer: 0/5)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35240" y="15087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Interleaving reale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5240" y="178308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Producer-1/2/3 e Consumer-1/2 si alternano in ordine non deterministico: prova diretta della concorrenza vera, non simulata a turni.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0" y="26791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VUOTO osservato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35240" y="295351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Consumer-1 attende subito all'inizio: i produttori non hanno ancora scritto nulla — wait() funziona correttamente.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35240" y="384962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PIENO osservato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35240" y="4123944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3 producer e consumer più lenti, il buffer si satura più volte: put() blocca correttamente finché non c'è spazio.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35240" y="502005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dato perso o duplicato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35240" y="529437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Order# compare esattamente una volta come prodotto e una come consumato: la mutua esclusione ha tenuto sotto carico reale.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A9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coerenza dei dati, misurata a fine esecuzione</a:t>
            </a:r>
            <a:endParaRPr lang="en-US" sz="2700" dirty="0">
              <a:solidFill>
                <a:srgbClr val="00206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62356" y="17373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32B63"/>
          </a:solidFill>
          <a:ln w="12700">
            <a:solidFill>
              <a:srgbClr val="3B43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62356" y="19202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2356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150" dirty="0">
                <a:solidFill>
                  <a:srgbClr val="C4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ORDINI PRODOTTI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02836" y="17373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32B63"/>
          </a:solidFill>
          <a:ln w="12700">
            <a:solidFill>
              <a:srgbClr val="3B43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402836" y="19202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402836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150" dirty="0">
                <a:solidFill>
                  <a:srgbClr val="C4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ORDINI CONSUMATI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43316" y="173736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232B63"/>
          </a:solidFill>
          <a:ln w="12700">
            <a:solidFill>
              <a:srgbClr val="3B43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243316" y="19202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 ✔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43316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150" dirty="0">
                <a:solidFill>
                  <a:srgbClr val="C4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 FINALE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dimostra </a:t>
            </a:r>
            <a:r>
              <a:rPr lang="en-US" sz="14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549386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= 30 non è un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SharedStats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AtomicInteger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quindi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ogni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atomico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3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produttori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2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consumatori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Sostituendo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AtomicInteger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un semplice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contatore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 e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l'operatore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++ (non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atomico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la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parità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carico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può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produrre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finale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inferiore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30: la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race condition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descritta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SharedStatas</a:t>
            </a:r>
            <a:r>
              <a:rPr lang="en-US" sz="125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671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1651</Words>
  <Application>Microsoft Office PowerPoint</Application>
  <PresentationFormat>Widescreen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Clara Sergi</cp:lastModifiedBy>
  <cp:revision>2</cp:revision>
  <dcterms:created xsi:type="dcterms:W3CDTF">2026-07-12T10:38:46Z</dcterms:created>
  <dcterms:modified xsi:type="dcterms:W3CDTF">2026-07-13T06:02:58Z</dcterms:modified>
</cp:coreProperties>
</file>